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72.5% illicit recall and 93.7% precision on the untouched final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CryptoGuard detects illicit Bitcoin transactions;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5-1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6-1.jpe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7-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8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5F75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435448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1798241"/>
            <a:ext cx="69848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MACHINE LEARNING PROJECT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6582" y="2197012"/>
            <a:ext cx="6908627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CryptoGuard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6582" y="3386614"/>
            <a:ext cx="690862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Illicit Bitcoin Transaction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6582" y="4007842"/>
            <a:ext cx="645143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E8E4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Detecting illicit Bitcoin transactions on the Elliptic dataset using graph features, a temporal split and eight machine learning approaches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6582" y="4862215"/>
            <a:ext cx="69848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Hagar Arafat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634885" y="533301"/>
            <a:ext cx="627374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THE IDEA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4885" y="912078"/>
            <a:ext cx="577835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Why This Project?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885" y="1671221"/>
            <a:ext cx="5892553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Bitcoin transactions are pseudonymous, so illicit activity hides among hundreds of thousands of legitimate ones. Checking every transaction by hand is impossible.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885" y="2953921"/>
            <a:ext cx="5835504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Our goal: build a Machine Learning model that flags which transactions are most likely illicit, so investigators can focus where it counts.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89518" y="355501"/>
            <a:ext cx="490217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PROJECT AT A GLANCE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89518" y="711101"/>
            <a:ext cx="444488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A9D8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203,769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289518" y="1409601"/>
            <a:ext cx="49021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transactions analyzed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289518" y="2158901"/>
            <a:ext cx="444488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A9D8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234,355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89518" y="2857401"/>
            <a:ext cx="49021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 connections (edges)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89518" y="3606701"/>
            <a:ext cx="444488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A9D8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89518" y="4305201"/>
            <a:ext cx="4546387" cy="80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7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 built &amp; compared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selection metric (imbalanced data)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289518" y="5587802"/>
            <a:ext cx="4444889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2A9D8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F1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4984" y="2324695"/>
            <a:ext cx="3437248" cy="417770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4377025" y="2324695"/>
            <a:ext cx="3437248" cy="417770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119165" y="2324695"/>
            <a:ext cx="3437348" cy="417770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406400"/>
            <a:ext cx="115567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THE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4984" y="781110"/>
            <a:ext cx="10864578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Features We Worked With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84" y="1518642"/>
            <a:ext cx="108645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6323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Elliptic Bitcoin dataset (Kaggle) — three files: transaction features, class labels and an edge list. Target column: class (1 = illicit, 2 = licit, unknown)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3479" y="2557960"/>
            <a:ext cx="29230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Transaction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3479" y="2967633"/>
            <a:ext cx="2980060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203,769 transactions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167 columns: ID, time step + 165 features (time step not a model feature)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49 time steps (1 to 49)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Added feature: graph degree (166 scaled features)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05520" y="2557960"/>
            <a:ext cx="29230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Class Labels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05520" y="2967633"/>
            <a:ext cx="29800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Unknown: 157,205 (77.15%)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Licit: 42,019 (20.62%)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Illicit: 4,545 (2.23%)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46,564 labeled transactions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47660" y="2557960"/>
            <a:ext cx="29230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Transaction Graph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47660" y="2967633"/>
            <a:ext cx="29800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234,355 edges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edge links two transactions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203,769 transactions appear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Used to build the degree feature</a:t>
            </a:r>
            <a:endParaRPr lang="en-US" sz="15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06400"/>
            <a:ext cx="115567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EXPLORATION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81110"/>
            <a:ext cx="10864578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Key Findings from the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1796455"/>
            <a:ext cx="3860703" cy="23783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594" y="2075855"/>
            <a:ext cx="318087" cy="300930"/>
          </a:xfrm>
          <a:prstGeom prst="roundRect">
            <a:avLst>
              <a:gd name="adj" fmla="val 26536"/>
            </a:avLst>
          </a:prstGeom>
          <a:solidFill>
            <a:srgbClr val="F5E7D6"/>
          </a:solidFill>
          <a:ln/>
        </p:spPr>
      </p:sp>
      <p:sp>
        <p:nvSpPr>
          <p:cNvPr id="6" name="Text 4"/>
          <p:cNvSpPr/>
          <p:nvPr/>
        </p:nvSpPr>
        <p:spPr>
          <a:xfrm>
            <a:off x="347455" y="2143323"/>
            <a:ext cx="12423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594" y="2476996"/>
            <a:ext cx="33463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Clean Raw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594" y="2991346"/>
            <a:ext cx="33463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missing values, duplicates or constant features. IDs match across all three files.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65496" y="1796455"/>
            <a:ext cx="3860703" cy="23783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94090" y="2075855"/>
            <a:ext cx="318087" cy="300930"/>
          </a:xfrm>
          <a:prstGeom prst="roundRect">
            <a:avLst>
              <a:gd name="adj" fmla="val 26536"/>
            </a:avLst>
          </a:prstGeom>
          <a:solidFill>
            <a:srgbClr val="F5E7D6"/>
          </a:solidFill>
          <a:ln/>
        </p:spPr>
      </p:sp>
      <p:sp>
        <p:nvSpPr>
          <p:cNvPr id="11" name="Text 9"/>
          <p:cNvSpPr/>
          <p:nvPr/>
        </p:nvSpPr>
        <p:spPr>
          <a:xfrm>
            <a:off x="4512951" y="2143323"/>
            <a:ext cx="12423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94090" y="2476996"/>
            <a:ext cx="33463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Mostly Unlabeled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94090" y="2991346"/>
            <a:ext cx="334636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157,205 of 203,769 transactions are unknown; only 46,564 carry a known label.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330992" y="1796455"/>
            <a:ext cx="3860703" cy="23783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59586" y="2075855"/>
            <a:ext cx="318087" cy="300930"/>
          </a:xfrm>
          <a:prstGeom prst="roundRect">
            <a:avLst>
              <a:gd name="adj" fmla="val 26536"/>
            </a:avLst>
          </a:prstGeom>
          <a:solidFill>
            <a:srgbClr val="F5E7D6"/>
          </a:solidFill>
          <a:ln/>
        </p:spPr>
      </p:sp>
      <p:sp>
        <p:nvSpPr>
          <p:cNvPr id="16" name="Text 14"/>
          <p:cNvSpPr/>
          <p:nvPr/>
        </p:nvSpPr>
        <p:spPr>
          <a:xfrm>
            <a:off x="8678447" y="2143323"/>
            <a:ext cx="12423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59586" y="2476996"/>
            <a:ext cx="33463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Heavy Imbalance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59586" y="2991346"/>
            <a:ext cx="33463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Among labeled transactions, 9.76% are illicit, so accuracy alone is not enough.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0" y="4479727"/>
            <a:ext cx="5943451" cy="23783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594" y="4759127"/>
            <a:ext cx="318087" cy="300930"/>
          </a:xfrm>
          <a:prstGeom prst="roundRect">
            <a:avLst>
              <a:gd name="adj" fmla="val 26536"/>
            </a:avLst>
          </a:prstGeom>
          <a:solidFill>
            <a:srgbClr val="F5E7D6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55" y="4826496"/>
            <a:ext cx="12423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8594" y="5160070"/>
            <a:ext cx="54291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Time Matters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8594" y="5674519"/>
            <a:ext cx="695912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49 time steps, so a temporal split is used instead of a random one.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248244" y="4479727"/>
            <a:ext cx="5943451" cy="2378373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6838" y="4759127"/>
            <a:ext cx="318087" cy="300930"/>
          </a:xfrm>
          <a:prstGeom prst="roundRect">
            <a:avLst>
              <a:gd name="adj" fmla="val 26536"/>
            </a:avLst>
          </a:prstGeom>
          <a:solidFill>
            <a:srgbClr val="F5E7D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5699" y="4826496"/>
            <a:ext cx="124238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76838" y="5160070"/>
            <a:ext cx="54291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Degree Differs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76838" y="5674519"/>
            <a:ext cx="57148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Illicit and licit transactions show different connection patterns.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06400"/>
            <a:ext cx="115567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EXPLORATION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81010"/>
            <a:ext cx="10864578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Class &amp; Time Distribution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683173"/>
            <a:ext cx="59434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Labeled vs. Unknown Transactions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6" y="3215283"/>
            <a:ext cx="5333867" cy="3286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244" y="2683173"/>
            <a:ext cx="59434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/ Test Split by Time Step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26039" y="3437533"/>
            <a:ext cx="55307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Total transactions: 203,769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26039" y="3964682"/>
            <a:ext cx="565770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Labeled: 46,564 (9.76% illicit among labeled)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6039" y="4491732"/>
            <a:ext cx="55307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Unknown: 157,205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26039" y="5018782"/>
            <a:ext cx="55307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Train: time steps 1–34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26039" y="5545832"/>
            <a:ext cx="55307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Test: time steps 35–49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06400"/>
            <a:ext cx="11531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PREPARING THE DATA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81308"/>
            <a:ext cx="10921727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Preprocessing &amp; Feature Engineering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34984" y="1531441"/>
            <a:ext cx="1940571" cy="494665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804094"/>
            <a:ext cx="150124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12780" y="2105720"/>
            <a:ext cx="1584881" cy="19050"/>
          </a:xfrm>
          <a:prstGeom prst="roundRect">
            <a:avLst>
              <a:gd name="adj" fmla="val 49999"/>
            </a:avLst>
          </a:prstGeom>
          <a:solidFill>
            <a:srgbClr val="D9A566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3546773"/>
            <a:ext cx="1762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Graph Degree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780" y="3901182"/>
            <a:ext cx="15849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Temporal degree built from edges available at each time step.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880248" y="1531441"/>
            <a:ext cx="1940571" cy="49466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0" name="Text 8"/>
          <p:cNvSpPr/>
          <p:nvPr/>
        </p:nvSpPr>
        <p:spPr>
          <a:xfrm>
            <a:off x="3058044" y="1804094"/>
            <a:ext cx="150124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058044" y="2105720"/>
            <a:ext cx="1584881" cy="19050"/>
          </a:xfrm>
          <a:prstGeom prst="roundRect">
            <a:avLst>
              <a:gd name="adj" fmla="val 49999"/>
            </a:avLst>
          </a:prstGeom>
          <a:solidFill>
            <a:srgbClr val="D9A566"/>
          </a:solidFill>
          <a:ln/>
        </p:spPr>
      </p:sp>
      <p:sp>
        <p:nvSpPr>
          <p:cNvPr id="12" name="Text 10"/>
          <p:cNvSpPr/>
          <p:nvPr/>
        </p:nvSpPr>
        <p:spPr>
          <a:xfrm>
            <a:off x="3058044" y="3241973"/>
            <a:ext cx="1584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Keep Unknown Apart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58044" y="4205982"/>
            <a:ext cx="15849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157,205 unlabeled transactions excluded from supervised training.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125512" y="1531441"/>
            <a:ext cx="1940670" cy="494665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308" y="1804094"/>
            <a:ext cx="150134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303308" y="2105720"/>
            <a:ext cx="1585079" cy="19050"/>
          </a:xfrm>
          <a:prstGeom prst="roundRect">
            <a:avLst>
              <a:gd name="adj" fmla="val 49999"/>
            </a:avLst>
          </a:prstGeom>
          <a:solidFill>
            <a:srgbClr val="D9A566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308" y="3543002"/>
            <a:ext cx="15850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Temporal Split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308" y="4113808"/>
            <a:ext cx="158507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Train: steps 1-34. Test: steps 35-49 (no validation set).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70876" y="1531441"/>
            <a:ext cx="1940571" cy="494665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0" name="Text 18"/>
          <p:cNvSpPr/>
          <p:nvPr/>
        </p:nvSpPr>
        <p:spPr>
          <a:xfrm>
            <a:off x="7548671" y="1804094"/>
            <a:ext cx="150124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04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48671" y="2105720"/>
            <a:ext cx="1584881" cy="19050"/>
          </a:xfrm>
          <a:prstGeom prst="roundRect">
            <a:avLst>
              <a:gd name="adj" fmla="val 49999"/>
            </a:avLst>
          </a:prstGeom>
          <a:solidFill>
            <a:srgbClr val="D9A566"/>
          </a:solidFill>
          <a:ln/>
        </p:spPr>
      </p:sp>
      <p:sp>
        <p:nvSpPr>
          <p:cNvPr id="22" name="Text 20"/>
          <p:cNvSpPr/>
          <p:nvPr/>
        </p:nvSpPr>
        <p:spPr>
          <a:xfrm>
            <a:off x="7548671" y="3546773"/>
            <a:ext cx="15849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Scale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8671" y="3901182"/>
            <a:ext cx="15849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StandardScaler fit on training data only, then applied to the test set.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16140" y="1531441"/>
            <a:ext cx="1940571" cy="494665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25" name="Text 23"/>
          <p:cNvSpPr/>
          <p:nvPr/>
        </p:nvSpPr>
        <p:spPr>
          <a:xfrm>
            <a:off x="9793935" y="1804094"/>
            <a:ext cx="150124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05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793935" y="2105720"/>
            <a:ext cx="1584881" cy="19050"/>
          </a:xfrm>
          <a:prstGeom prst="roundRect">
            <a:avLst>
              <a:gd name="adj" fmla="val 49999"/>
            </a:avLst>
          </a:prstGeom>
          <a:solidFill>
            <a:srgbClr val="D9A566"/>
          </a:solidFill>
          <a:ln/>
        </p:spPr>
      </p:sp>
      <p:sp>
        <p:nvSpPr>
          <p:cNvPr id="27" name="Text 25"/>
          <p:cNvSpPr/>
          <p:nvPr/>
        </p:nvSpPr>
        <p:spPr>
          <a:xfrm>
            <a:off x="9793935" y="3546773"/>
            <a:ext cx="15849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SMOTE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93935" y="3901182"/>
            <a:ext cx="15849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set balanced to 26,432 transactions per class.</a:t>
            </a:r>
            <a:endParaRPr lang="en-US" sz="15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06400"/>
            <a:ext cx="11531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MODELING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81308"/>
            <a:ext cx="10921727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Eight Approaches, One Goal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84" y="1531441"/>
            <a:ext cx="1153131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Scored on Accuracy, Precision, Recall, F1, ROC-AUC and PR-AUC on the final test set (steps 35-49), threshold 0.5.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4984" y="2039342"/>
            <a:ext cx="2577936" cy="1330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191742"/>
            <a:ext cx="24001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2546152"/>
            <a:ext cx="22223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 baseline trained on SMOTE-balanced data.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4984" y="3675063"/>
            <a:ext cx="2577936" cy="162679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3822303"/>
            <a:ext cx="22223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LightGBM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80" y="4176713"/>
            <a:ext cx="22223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gradient boosting with the same settings.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517713" y="2039342"/>
            <a:ext cx="2425639" cy="1330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95508" y="2191742"/>
            <a:ext cx="20700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95508" y="2546152"/>
            <a:ext cx="20700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tree, default settings.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517713" y="3675063"/>
            <a:ext cx="2425639" cy="162679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3695508" y="3822303"/>
            <a:ext cx="20700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Soft Voting Ensemble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95508" y="4481513"/>
            <a:ext cx="20700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Averages RF + XGBoost + LightGBM probabilities.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48144" y="2039342"/>
            <a:ext cx="2425639" cy="1330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5940" y="2191742"/>
            <a:ext cx="22478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25940" y="2616002"/>
            <a:ext cx="2247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Ensemble of 200 trees.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248144" y="3675063"/>
            <a:ext cx="2425639" cy="162679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25940" y="3822303"/>
            <a:ext cx="20700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Semi-Supervised RF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25940" y="4554141"/>
            <a:ext cx="20700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Adds 4,004 balanced pseudo-labeled rows.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978576" y="2039342"/>
            <a:ext cx="2578036" cy="1330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9156372" y="2191742"/>
            <a:ext cx="22224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XGBoost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56372" y="2546152"/>
            <a:ext cx="22224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Gradient boosting: 200 trees, depth 6, lr 0.1.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978576" y="3675063"/>
            <a:ext cx="2578036" cy="162679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9156372" y="3822303"/>
            <a:ext cx="22224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Isolation Forest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56372" y="4176713"/>
            <a:ext cx="222244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Unsupervised anomaly detector, 5% contamination.</a:t>
            </a:r>
            <a:endParaRPr lang="en-US" sz="15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330200"/>
            <a:ext cx="11531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1D355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RESULTS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05108"/>
            <a:ext cx="10921727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Final Model Comparison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84" y="1451471"/>
            <a:ext cx="115313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 set (time steps 35-49), sorted by F1. Soft Voting is the best supervised model.</a:t>
            </a:r>
            <a:endParaRPr lang="en-US" sz="15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984" y="1973362"/>
          <a:ext cx="10921727" cy="914400"/>
        </p:xfrm>
        <a:graphic>
          <a:graphicData uri="http://schemas.openxmlformats.org/drawingml/2006/table">
            <a:tbl>
              <a:tblPr/>
              <a:tblGrid>
                <a:gridCol w="3058111"/>
                <a:gridCol w="1572663"/>
                <a:gridCol w="1572663"/>
                <a:gridCol w="1572663"/>
                <a:gridCol w="1572663"/>
                <a:gridCol w="1572962"/>
              </a:tblGrid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Accuracy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Precision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Recall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F1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ROC-AUC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Semi-Supervised RF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97.97%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95.59%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72.11%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82.21%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92.97%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8"/>
                    </a:solidFill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Soft Voting Ensemble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97.89%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93.68%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72.48%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81.73%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93.97%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LightGBM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97.85%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92.60%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72.76%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81.49%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94.88%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XGBoost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97.79%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91.52%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72.76%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81.07%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94.66%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 Forest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97.75%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91.36%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72.21%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80.66%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93.60%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Decision Tree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92.35%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44.35%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69.99%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54.30%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81.94%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Logistic Regression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76.30%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19.62%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85.50%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31.91%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88.43%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Isolation Forest*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46.43%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2.05%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15.51%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3.63%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761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-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8898" marR="88898" marT="74293" marB="74293" anchor="ctr">
                    <a:lnL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CD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4984" y="5573713"/>
            <a:ext cx="11531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354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*Isolation Forest is unsupervised; no ROC-AUC is reported. Threshold 0.5 for all models.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06400"/>
            <a:ext cx="11531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RESULTS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81308"/>
            <a:ext cx="10921727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Model Performance at a Glance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154" y="2006402"/>
            <a:ext cx="8457988" cy="4521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381000"/>
            <a:ext cx="70098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0" kern="100" dirty="0">
                <a:solidFill>
                  <a:srgbClr val="F7931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BEST SUPERVISED MODEL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34984" y="755908"/>
            <a:ext cx="673043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Soft Voting Ensemble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84" y="1503462"/>
            <a:ext cx="67304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of the illicit probabilities from Random Forest, XGBoost and LightGBM, with a fixed 0.5 threshold. Best supervised F1 on the final test set.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4984" y="2337792"/>
            <a:ext cx="3212821" cy="171827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591513"/>
            <a:ext cx="3060425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81.7%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87380" y="3555107"/>
            <a:ext cx="30604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F1-score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152598" y="2337792"/>
            <a:ext cx="3212821" cy="171827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304994" y="2591513"/>
            <a:ext cx="3060425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72.5%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304994" y="3555107"/>
            <a:ext cx="30604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4984" y="4500463"/>
            <a:ext cx="673043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Why F1 came first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4984" y="5085854"/>
            <a:ext cx="673043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9.8% of labeled transactions are illicit, so accuracy is misleading.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F1 balances catching illicit transactions against false alarms.</a:t>
            </a:r>
            <a:endParaRPr lang="en-US" sz="1550" dirty="0"/>
          </a:p>
          <a:p>
            <a:pPr algn="l" marL="314960" indent="-31496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supervised F1 (81.73%) and highest supervised precision (93.68%).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21010" y="0"/>
            <a:ext cx="4470685" cy="685800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9604" y="2044700"/>
            <a:ext cx="3348053" cy="2739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114805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1" kern="100" dirty="0">
                <a:solidFill>
                  <a:srgbClr val="9A4D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FINAL TEST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11182" y="977265"/>
            <a:ext cx="1137891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Generalization to the Unseen Test 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737618"/>
            <a:ext cx="11480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35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Soft Voting catches 72.5% of illicit test transactions at 93.7% precision; semi-supervised RF reaches the top F1 (82.2%).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1182" y="4102100"/>
            <a:ext cx="3691341" cy="1232198"/>
          </a:xfrm>
          <a:prstGeom prst="roundRect">
            <a:avLst>
              <a:gd name="adj" fmla="val 6710"/>
            </a:avLst>
          </a:prstGeom>
          <a:solidFill>
            <a:srgbClr val="176F64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4320296"/>
            <a:ext cx="331035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16,670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377" y="4902498"/>
            <a:ext cx="34881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labeled test transactions, 1,083 illicit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54920" y="4102100"/>
            <a:ext cx="3691341" cy="1232198"/>
          </a:xfrm>
          <a:prstGeom prst="roundRect">
            <a:avLst>
              <a:gd name="adj" fmla="val 6710"/>
            </a:avLst>
          </a:prstGeom>
          <a:solidFill>
            <a:srgbClr val="F7931A"/>
          </a:solidFill>
          <a:ln/>
        </p:spPr>
      </p:sp>
      <p:sp>
        <p:nvSpPr>
          <p:cNvPr id="9" name="Text 7"/>
          <p:cNvSpPr/>
          <p:nvPr/>
        </p:nvSpPr>
        <p:spPr>
          <a:xfrm>
            <a:off x="4758115" y="4320296"/>
            <a:ext cx="331035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72.5%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8115" y="4902498"/>
            <a:ext cx="34881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illicit recall, Soft Voting Ensemble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98657" y="4102100"/>
            <a:ext cx="3691341" cy="1232198"/>
          </a:xfrm>
          <a:prstGeom prst="roundRect">
            <a:avLst>
              <a:gd name="adj" fmla="val 671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852" y="4320296"/>
            <a:ext cx="331035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93.7%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01852" y="4902498"/>
            <a:ext cx="34881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 on flagged 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182" y="5556548"/>
            <a:ext cx="11480513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D35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 Set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182" y="6032500"/>
            <a:ext cx="114805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35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steps 35-49, never used for training. Threshold fixed at 0.5 and evaluated once.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114805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1" kern="100" dirty="0">
                <a:solidFill>
                  <a:srgbClr val="A347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RECALL DROPPED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11182" y="980123"/>
            <a:ext cx="1117572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Distribution Shift on Later Time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1182" y="1707158"/>
            <a:ext cx="11480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35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varies across test time steps. Later steps show distribution shift, so per-step results are less stable than overall results.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1182" y="2234208"/>
            <a:ext cx="5486263" cy="1903016"/>
          </a:xfrm>
          <a:prstGeom prst="roundRect">
            <a:avLst>
              <a:gd name="adj" fmla="val 4344"/>
            </a:avLst>
          </a:prstGeom>
          <a:solidFill>
            <a:srgbClr val="176F64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427889"/>
            <a:ext cx="510527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377" y="3037086"/>
            <a:ext cx="5105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Feature 104 Shifted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377" y="3464123"/>
            <a:ext cx="510527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Ablation without feature 104: F1 81.41%, ROC-AUC 94.33%, close to the full ensemble.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640" y="2234208"/>
            <a:ext cx="5486263" cy="1903016"/>
          </a:xfrm>
          <a:prstGeom prst="roundRect">
            <a:avLst>
              <a:gd name="adj" fmla="val 4344"/>
            </a:avLst>
          </a:prstGeom>
          <a:solidFill>
            <a:srgbClr val="176F64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5" y="2427889"/>
            <a:ext cx="510527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03835" y="3037086"/>
            <a:ext cx="5105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Recall Stays Limited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03835" y="3464123"/>
            <a:ext cx="528306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test steps hold few illicit transactions, so per-step recall swings widely.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3195" y="5254823"/>
            <a:ext cx="11480513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D35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Illicit Recall Across Test Time Steps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3195" y="5730776"/>
            <a:ext cx="11480513" cy="619224"/>
          </a:xfrm>
          <a:prstGeom prst="roundRect">
            <a:avLst>
              <a:gd name="adj" fmla="val 13351"/>
            </a:avLst>
          </a:prstGeom>
          <a:solidFill>
            <a:srgbClr val="FFFFFF"/>
          </a:solidFill>
          <a:ln w="25399">
            <a:solidFill>
              <a:srgbClr val="BDDAD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114805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1" kern="100" dirty="0">
                <a:solidFill>
                  <a:srgbClr val="9B4A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UNDER THE HOOD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11182" y="977265"/>
            <a:ext cx="1117572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737618"/>
            <a:ext cx="11480513" cy="253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6F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Pipeline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0" y="2600920"/>
            <a:ext cx="12191695" cy="5064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03195" y="3210520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7" name="Text 5"/>
          <p:cNvSpPr/>
          <p:nvPr/>
        </p:nvSpPr>
        <p:spPr>
          <a:xfrm>
            <a:off x="355591" y="3362920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5591" y="3638451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the 3 Elliptic files and verify integrity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19649" y="3210520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10" name="Text 8"/>
          <p:cNvSpPr/>
          <p:nvPr/>
        </p:nvSpPr>
        <p:spPr>
          <a:xfrm>
            <a:off x="6172046" y="3362920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172046" y="3638451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missing values, duplicates and classes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3195" y="4209951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13" name="Text 11"/>
          <p:cNvSpPr/>
          <p:nvPr/>
        </p:nvSpPr>
        <p:spPr>
          <a:xfrm>
            <a:off x="355591" y="4362351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5591" y="4637881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temporal degree from the edge list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19649" y="4209951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046" y="4362351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72046" y="4637881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Temporal split: train steps 1-34 / test steps 35-49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3195" y="5209381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19" name="Text 17"/>
          <p:cNvSpPr/>
          <p:nvPr/>
        </p:nvSpPr>
        <p:spPr>
          <a:xfrm>
            <a:off x="355591" y="5361781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55591" y="5637312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StandardScaler (fit on train) + SMOTE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19649" y="5209381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046" y="5361781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172046" y="5637312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5 supervised models + soft voting ensemble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3195" y="6208812"/>
            <a:ext cx="5664058" cy="847030"/>
          </a:xfrm>
          <a:prstGeom prst="rect">
            <a:avLst/>
          </a:prstGeom>
          <a:solidFill>
            <a:srgbClr val="C2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355591" y="6361212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7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55591" y="6636742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Pseudo-label unknowns + Isolation Forest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19649" y="6208812"/>
            <a:ext cx="5664058" cy="847030"/>
          </a:xfrm>
          <a:prstGeom prst="rect">
            <a:avLst/>
          </a:prstGeom>
          <a:solidFill>
            <a:srgbClr val="176F64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046" y="6361212"/>
            <a:ext cx="70939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172046" y="6636742"/>
            <a:ext cx="55116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Evaluate once on the unseen test set (threshold 0.5)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609600"/>
            <a:ext cx="113789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spc="81" kern="100" dirty="0">
                <a:solidFill>
                  <a:srgbClr val="A84D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12780" y="1032562"/>
            <a:ext cx="11074123" cy="234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4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Hager Arafat</a:t>
            </a:r>
            <a:endParaRPr lang="en-US" sz="8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400" b="1" dirty="0">
                <a:solidFill>
                  <a:srgbClr val="1D3557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EL Dabaa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812780" y="3795216"/>
            <a:ext cx="2768531" cy="38100"/>
          </a:xfrm>
          <a:prstGeom prst="roundRect">
            <a:avLst>
              <a:gd name="adj" fmla="val 49999"/>
            </a:avLst>
          </a:prstGeom>
          <a:solidFill>
            <a:srgbClr val="C25E00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4339411"/>
            <a:ext cx="11074123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6F64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CryptoGuard: Illicit Bitcoin Transaction Detection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2026-10-15T12:17:25Z</dcterms:created>
  <dcterms:modified xsi:type="dcterms:W3CDTF">2026-10-15T12:17:25Z</dcterms:modified>
</cp:coreProperties>
</file>